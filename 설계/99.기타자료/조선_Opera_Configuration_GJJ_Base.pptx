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B2B2F00-E75A-4D1A-9BDF-E812274FCFC7}">
          <p14:sldIdLst>
            <p14:sldId id="256"/>
            <p14:sldId id="257"/>
          </p14:sldIdLst>
        </p14:section>
        <p14:section name="Reservations" id="{54EA4A38-402E-4029-897E-CDAD373E1E4E}">
          <p14:sldIdLst>
            <p14:sldId id="258"/>
            <p14:sldId id="259"/>
            <p14:sldId id="260"/>
            <p14:sldId id="261"/>
            <p14:sldId id="262"/>
          </p14:sldIdLst>
        </p14:section>
        <p14:section name="Rate Management_Codes" id="{321551C5-5F86-41FD-BF65-3AF365F27E8C}">
          <p14:sldIdLst>
            <p14:sldId id="263"/>
            <p14:sldId id="264"/>
            <p14:sldId id="265"/>
            <p14:sldId id="266"/>
          </p14:sldIdLst>
        </p14:section>
        <p14:section name="Rate Management_Rate Classification" id="{C7569138-6A25-4C28-BC02-C98166513BF7}">
          <p14:sldIdLst>
            <p14:sldId id="267"/>
            <p14:sldId id="268"/>
            <p14:sldId id="269"/>
            <p14:sldId id="270"/>
          </p14:sldIdLst>
        </p14:section>
        <p14:section name="Rate Management_Packages" id="{07AF221C-BBBF-4164-AEFB-B1E7927868B4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1886A3-A6C9-41C6-8D5A-AA2AA5D2D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F6C2CEC-876E-62AF-D049-C6F6C5441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C716E8-468C-F92F-E9A5-F2C4A2DB0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7AC-0F20-43D1-B1E9-B62BB8E2C795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D42295-8563-3759-6696-A82B1BC9F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41EA3D-9D3E-8131-E70C-8E097C8B3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39396-3024-4713-9580-EC926FDC9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665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32FB21-3F64-0C80-640A-7A536F649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F6B3F5-CB6F-1012-4161-5E2B3D95B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BB1C8A-9919-A4D7-8E18-38A511C8B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7AC-0F20-43D1-B1E9-B62BB8E2C795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B6A816-BE0C-4E41-EBB0-280ADCF2D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CE1EEA-F608-1E22-20E9-85961BDC7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39396-3024-4713-9580-EC926FDC9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427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84CEDF-54FE-87D8-F598-69764FCC9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69D889-680B-6DE9-E026-1225C1EC2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630F04-48E8-CBBC-05A4-C38C2CEDF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7AC-0F20-43D1-B1E9-B62BB8E2C795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A78E03-A33D-3DE7-B64C-503151192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3EB56C-8AC6-61A2-AAE2-52CDA9C31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39396-3024-4713-9580-EC926FDC9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50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9B088-FF7E-E148-4710-1DBA4F15D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13CA2E-2338-FEE1-4525-D8ACC731C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EE358D-07F3-6508-AA5E-3170BB7DB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0FED74-8C49-DA26-A0B4-C681F84A2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7AC-0F20-43D1-B1E9-B62BB8E2C795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E45666-9F03-DFB1-2C6B-11D199CE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D316DA-294D-12A4-C55D-4DB615E3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39396-3024-4713-9580-EC926FDC9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87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48730-F24A-169E-EFB6-17A702559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5B96B9-2514-89FD-D796-C210C44D8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6AFB34-54F8-8C75-0F19-5C89AA963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6B6D7C-EF53-E864-78BE-658D1D6056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91DF0A3-15A8-9CB5-45C2-0FC9350FF9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E504A76-7F9A-19DD-8B41-8D73AEF74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7AC-0F20-43D1-B1E9-B62BB8E2C795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63D83ED-1A19-399B-DF17-42DBD5434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31006C-F474-A106-F407-6AA93390B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39396-3024-4713-9580-EC926FDC9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98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7A7A7-A7AD-111F-DB98-714E539E9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3E9DD5-8BC2-3A62-03E2-ED3C831F0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7AC-0F20-43D1-B1E9-B62BB8E2C795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28E09C-04A4-DE2C-850A-A85E3A6B8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BB2431-D490-0794-98E5-EEED2D030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39396-3024-4713-9580-EC926FDC9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092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25ED6FF-FACC-0A33-D92A-15C9757D4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7AC-0F20-43D1-B1E9-B62BB8E2C795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EC2074-278A-7569-1263-E6218FEB8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074887-0EEB-2281-A093-DCCDF72C4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39396-3024-4713-9580-EC926FDC9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79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C7E5C9-F04B-4EE6-EE17-63C621194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225509-5EB0-F366-B84F-2DBCFAC05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D7D21B-6ADB-1A4F-E12D-56A521554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B54EFA-1DF6-5CB0-8242-8FC0FE3B9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7AC-0F20-43D1-B1E9-B62BB8E2C795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1E1042-884F-E01C-A377-A6104C42D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4C6F9F-8E7D-36D5-75E1-F8D28214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39396-3024-4713-9580-EC926FDC9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359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1FFE88-546D-F46B-0C13-A81922697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A7AED46-E720-9CCF-D109-194FD817C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6964AD-42FF-29B8-1F7C-7E85E5875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C7E0A7-7597-BF17-AB58-D297FBAA9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7AC-0F20-43D1-B1E9-B62BB8E2C795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56328D-8D07-F809-0712-9456C2CD0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AA3B68-F146-007E-2BA2-0D0660C7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39396-3024-4713-9580-EC926FDC9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230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F37048-2E35-CD8A-E320-2D8230903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030A27-7E2B-13CE-8F69-6BFE1E630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C9BCF6-BD6C-0FD3-6FBB-067CFA9A7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7AC-0F20-43D1-B1E9-B62BB8E2C795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5B0FEA-F688-6C31-E8B4-847C063DC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B09DBA-9576-D33E-A833-86A35B749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39396-3024-4713-9580-EC926FDC9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374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F405582-7E4F-34D9-C922-E8D48B1054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EA905B-B742-E1AC-5DF7-7121252A1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40FD95-E9F1-A2B4-8EB3-E80CAF5BB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57AC-0F20-43D1-B1E9-B62BB8E2C795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B9D7BB-2C0B-B60A-C513-F753F5865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8949F3-865D-F5FF-74B6-1BE7309DF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39396-3024-4713-9580-EC926FDC90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56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CCEAB5-457B-4DFA-0CF9-EEADCA44B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036C02-543D-6A43-89A2-6E81F0B56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836992-DE31-B08C-7AE1-03DF60126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B857AC-0F20-43D1-B1E9-B62BB8E2C795}" type="datetimeFigureOut">
              <a:rPr lang="ko-KR" altLang="en-US" smtClean="0"/>
              <a:t>2024-12-06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411644-B28C-1736-C323-B215349E8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17C7EA-EA50-B694-6620-34769697D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039396-3024-4713-9580-EC926FDC906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8E0593-514C-30C3-22A5-E7E9AD5628D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35702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scalaryh@josunhotel.com, 김윤환(파트너) - IT운영, 제목 없음, 2024-12-05T00:59:23</a:t>
            </a:r>
          </a:p>
        </p:txBody>
      </p:sp>
    </p:spTree>
    <p:extLst>
      <p:ext uri="{BB962C8B-B14F-4D97-AF65-F5344CB8AC3E}">
        <p14:creationId xmlns:p14="http://schemas.microsoft.com/office/powerpoint/2010/main" val="58859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D5975-963A-CFE8-92FC-7B938436B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ko-KR" sz="4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Opera Rate Configuration</a:t>
            </a:r>
            <a:endParaRPr lang="ko-KR" altLang="en-US" sz="4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FB8C94-D79A-7A38-168E-D4F7155DE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35637"/>
            <a:ext cx="9144000" cy="486624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IT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전략팀</a:t>
            </a:r>
            <a:endParaRPr lang="ko-KR" alt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C09C9A-C90B-1826-B1DD-94046CD42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186" y="99588"/>
            <a:ext cx="2061173" cy="11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867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운영 체제이(가) 표시된 사진&#10;&#10;자동 생성된 설명">
            <a:extLst>
              <a:ext uri="{FF2B5EF4-FFF2-40B4-BE49-F238E27FC236}">
                <a16:creationId xmlns:a16="http://schemas.microsoft.com/office/drawing/2014/main" id="{089BA6D7-9372-7475-232E-95BF9E49D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692" y="1133624"/>
            <a:ext cx="7506308" cy="5724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2E1F2F-2B6B-28FC-0754-B017D1086802}"/>
              </a:ext>
            </a:extLst>
          </p:cNvPr>
          <p:cNvSpPr txBox="1"/>
          <p:nvPr/>
        </p:nvSpPr>
        <p:spPr>
          <a:xfrm>
            <a:off x="0" y="0"/>
            <a:ext cx="529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Opera Configuration Main Screen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6931A-550D-BFD4-B012-F61E087533A8}"/>
              </a:ext>
            </a:extLst>
          </p:cNvPr>
          <p:cNvSpPr txBox="1"/>
          <p:nvPr/>
        </p:nvSpPr>
        <p:spPr>
          <a:xfrm>
            <a:off x="0" y="533459"/>
            <a:ext cx="4685692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Menu Configuration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Reservations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Menu</a:t>
            </a:r>
          </a:p>
          <a:p>
            <a:pPr marL="800100" lvl="1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Codes </a:t>
            </a:r>
          </a:p>
          <a:p>
            <a:pPr marL="1257300" lvl="2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Deposit Rule</a:t>
            </a:r>
          </a:p>
          <a:p>
            <a:pPr marL="800100" lvl="1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Room Classifications</a:t>
            </a:r>
          </a:p>
          <a:p>
            <a:pPr marL="1257300" lvl="2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Room Class</a:t>
            </a:r>
          </a:p>
          <a:p>
            <a:pPr marL="1257300" lvl="2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Room Type</a:t>
            </a:r>
          </a:p>
          <a:p>
            <a:pPr marL="1257300" lvl="2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Rooms</a:t>
            </a:r>
          </a:p>
          <a:p>
            <a:pPr marL="1257300" lvl="2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Item Inventory Setup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Management Menu</a:t>
            </a:r>
          </a:p>
          <a:p>
            <a:pPr marL="800100" lvl="1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Codes</a:t>
            </a:r>
          </a:p>
          <a:p>
            <a:pPr marL="1257300" lvl="2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Market Groups</a:t>
            </a:r>
          </a:p>
          <a:p>
            <a:pPr marL="1257300" lvl="2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Market Codes</a:t>
            </a:r>
          </a:p>
          <a:p>
            <a:pPr marL="1257300" lvl="2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Source Groups</a:t>
            </a:r>
          </a:p>
          <a:p>
            <a:pPr marL="1257300" lvl="2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Source Codes</a:t>
            </a:r>
          </a:p>
          <a:p>
            <a:pPr marL="800100" lvl="1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Classifications</a:t>
            </a:r>
          </a:p>
          <a:p>
            <a:pPr marL="1257300" lvl="2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Classes</a:t>
            </a:r>
          </a:p>
          <a:p>
            <a:pPr marL="1257300" lvl="2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Categories</a:t>
            </a:r>
          </a:p>
          <a:p>
            <a:pPr marL="1257300" lvl="2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Codes</a:t>
            </a:r>
          </a:p>
          <a:p>
            <a:pPr marL="800100" lvl="1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Packages</a:t>
            </a:r>
          </a:p>
          <a:p>
            <a:pPr marL="1257300" lvl="2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Codes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Channels</a:t>
            </a:r>
          </a:p>
          <a:p>
            <a:pPr marL="800100" lvl="1" indent="-342900">
              <a:buAutoNum type="arabicPeriod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Channel Conversions</a:t>
            </a:r>
            <a:endParaRPr lang="ko-KR" altLang="en-US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3557EC-D182-912E-0BE7-944652059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186" y="99588"/>
            <a:ext cx="2061173" cy="11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112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2E1F2F-2B6B-28FC-0754-B017D1086802}"/>
              </a:ext>
            </a:extLst>
          </p:cNvPr>
          <p:cNvSpPr txBox="1"/>
          <p:nvPr/>
        </p:nvSpPr>
        <p:spPr>
          <a:xfrm>
            <a:off x="0" y="0"/>
            <a:ext cx="529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Reservations &gt; Codes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6931A-550D-BFD4-B012-F61E087533A8}"/>
              </a:ext>
            </a:extLst>
          </p:cNvPr>
          <p:cNvSpPr txBox="1"/>
          <p:nvPr/>
        </p:nvSpPr>
        <p:spPr>
          <a:xfrm>
            <a:off x="0" y="533459"/>
            <a:ext cx="46856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Deposit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Rule</a:t>
            </a:r>
          </a:p>
          <a:p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Deposit Rule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설정 및 투숙일 당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Deposit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금액 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BD207ED8-68D6-4DEA-B120-1E00F0132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2051"/>
            <a:ext cx="5836975" cy="4425949"/>
          </a:xfrm>
          <a:prstGeom prst="rect">
            <a:avLst/>
          </a:prstGeom>
        </p:spPr>
      </p:pic>
      <p:pic>
        <p:nvPicPr>
          <p:cNvPr id="8" name="그림 7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0860205B-D702-55A2-F453-0F8BD27A1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024" y="2423117"/>
            <a:ext cx="5836976" cy="443488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7B402B8-458F-E833-37BA-60013F93A4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186" y="99588"/>
            <a:ext cx="2061173" cy="11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01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2E1F2F-2B6B-28FC-0754-B017D1086802}"/>
              </a:ext>
            </a:extLst>
          </p:cNvPr>
          <p:cNvSpPr txBox="1"/>
          <p:nvPr/>
        </p:nvSpPr>
        <p:spPr>
          <a:xfrm>
            <a:off x="-1" y="0"/>
            <a:ext cx="677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Reservations &gt; Room Classifications &gt; Room Classes 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6931A-550D-BFD4-B012-F61E087533A8}"/>
              </a:ext>
            </a:extLst>
          </p:cNvPr>
          <p:cNvSpPr txBox="1"/>
          <p:nvPr/>
        </p:nvSpPr>
        <p:spPr>
          <a:xfrm>
            <a:off x="-1" y="533459"/>
            <a:ext cx="66459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Room Classes</a:t>
            </a:r>
          </a:p>
          <a:p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객실 룸 타입 설정 전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룸 타입그룹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디럭스 스위트 </a:t>
            </a:r>
            <a:r>
              <a:rPr lang="ko-KR" altLang="en-US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힐스위트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등 그룹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Room Class = Class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이름 기입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Description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Display Sequence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표기 순번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Total Room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Class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해당하는 총 객실 수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Ex.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디럭스 타입이 총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199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객실이면 디럭스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Class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Total Rooms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는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199</a:t>
            </a:r>
          </a:p>
        </p:txBody>
      </p:sp>
      <p:pic>
        <p:nvPicPr>
          <p:cNvPr id="4" name="그림 3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692CAE3E-76FF-CE50-D1A3-2CD878C4E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2050"/>
            <a:ext cx="5813490" cy="4425950"/>
          </a:xfrm>
          <a:prstGeom prst="rect">
            <a:avLst/>
          </a:prstGeom>
        </p:spPr>
      </p:pic>
      <p:pic>
        <p:nvPicPr>
          <p:cNvPr id="11" name="그림 10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BC4D0FEB-4C80-A2DF-48AD-61DE3FB07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025" y="2432050"/>
            <a:ext cx="5836975" cy="44259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0DC1C0C-2D13-4A2B-56CD-9381EB5FA2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186" y="99588"/>
            <a:ext cx="2061173" cy="11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371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2E1F2F-2B6B-28FC-0754-B017D1086802}"/>
              </a:ext>
            </a:extLst>
          </p:cNvPr>
          <p:cNvSpPr txBox="1"/>
          <p:nvPr/>
        </p:nvSpPr>
        <p:spPr>
          <a:xfrm>
            <a:off x="-1" y="0"/>
            <a:ext cx="677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Reservations &gt; Room Classifications &gt; Room Types 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6931A-550D-BFD4-B012-F61E087533A8}"/>
              </a:ext>
            </a:extLst>
          </p:cNvPr>
          <p:cNvSpPr txBox="1"/>
          <p:nvPr/>
        </p:nvSpPr>
        <p:spPr>
          <a:xfrm>
            <a:off x="-1" y="533459"/>
            <a:ext cx="59966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Room Types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객실 룸 타입 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CMS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등록하는 객실 타입으로 해당 정보 등록 후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OWS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Distribute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Room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Class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선행 등록한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Room Class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선택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Room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Type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설정할 룸 타입 입력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보통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Full Name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약어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Number Of Rooms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룸 타입 총 객실 수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1CEEA73C-12C3-0CAD-8A40-DD10041C3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24340"/>
            <a:ext cx="5836975" cy="4433660"/>
          </a:xfrm>
          <a:prstGeom prst="rect">
            <a:avLst/>
          </a:prstGeom>
        </p:spPr>
      </p:pic>
      <p:pic>
        <p:nvPicPr>
          <p:cNvPr id="8" name="그림 7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F5BAD466-B63F-08B0-9D20-3EC1FF5645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024" y="2416824"/>
            <a:ext cx="5836975" cy="44411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E5DCCA-EF62-0218-C9E0-AEC3E0630E77}"/>
              </a:ext>
            </a:extLst>
          </p:cNvPr>
          <p:cNvSpPr txBox="1"/>
          <p:nvPr/>
        </p:nvSpPr>
        <p:spPr>
          <a:xfrm>
            <a:off x="5996608" y="369332"/>
            <a:ext cx="619539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Features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객실 구성 설정 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Ex. 1KB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킹 베드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STV =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스탠다드 뷰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Fancilities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객실 제공 기본 서비스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(?) –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청소 등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Max.Occupancy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 점유율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Min. Occupancy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최소 점유율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Max.Adults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 성인 수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Max.Chidren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 어린이 수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A00478-C67B-A643-83D7-D6102E495C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186" y="99588"/>
            <a:ext cx="2061173" cy="11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891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2E1F2F-2B6B-28FC-0754-B017D1086802}"/>
              </a:ext>
            </a:extLst>
          </p:cNvPr>
          <p:cNvSpPr txBox="1"/>
          <p:nvPr/>
        </p:nvSpPr>
        <p:spPr>
          <a:xfrm>
            <a:off x="-1" y="0"/>
            <a:ext cx="677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Reservations &gt; Room Classifications &gt; Rooms 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6931A-550D-BFD4-B012-F61E087533A8}"/>
              </a:ext>
            </a:extLst>
          </p:cNvPr>
          <p:cNvSpPr txBox="1"/>
          <p:nvPr/>
        </p:nvSpPr>
        <p:spPr>
          <a:xfrm>
            <a:off x="-1" y="533459"/>
            <a:ext cx="59966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Rooms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룸 타입별 실제 객실 종류 등록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Room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룸 넘버 기재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Room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Type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설정할 룸 타입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힐 스튜디오 스위트 가든 뷰 슈퍼 킹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 HSGK)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Max.Occupancy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 점유율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5DCCA-EF62-0218-C9E0-AEC3E0630E77}"/>
              </a:ext>
            </a:extLst>
          </p:cNvPr>
          <p:cNvSpPr txBox="1"/>
          <p:nvPr/>
        </p:nvSpPr>
        <p:spPr>
          <a:xfrm>
            <a:off x="5996608" y="364182"/>
            <a:ext cx="61953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Features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객실 구성 설정 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Ex. 1KB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킹 베드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STV =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스탠다드 뷰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Floor Preference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층 지정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" name="그림 3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id="{8EA96573-0332-171C-A1E6-B413E1947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16824"/>
            <a:ext cx="5850347" cy="4441176"/>
          </a:xfrm>
          <a:prstGeom prst="rect">
            <a:avLst/>
          </a:prstGeom>
        </p:spPr>
      </p:pic>
      <p:pic>
        <p:nvPicPr>
          <p:cNvPr id="12" name="그림 11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1A02A0F2-E4E2-1F91-7D77-3CE2EA624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653" y="2409298"/>
            <a:ext cx="5850347" cy="444870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6850BC4-C129-00FC-BC38-863FE24AB6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186" y="99588"/>
            <a:ext cx="2061173" cy="11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828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CB33878D-4727-0555-01D7-E3A8938E4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09297"/>
            <a:ext cx="5856779" cy="44487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2E1F2F-2B6B-28FC-0754-B017D1086802}"/>
              </a:ext>
            </a:extLst>
          </p:cNvPr>
          <p:cNvSpPr txBox="1"/>
          <p:nvPr/>
        </p:nvSpPr>
        <p:spPr>
          <a:xfrm>
            <a:off x="-1" y="0"/>
            <a:ext cx="677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Reservations &gt; Item Inventory Setup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6931A-550D-BFD4-B012-F61E087533A8}"/>
              </a:ext>
            </a:extLst>
          </p:cNvPr>
          <p:cNvSpPr txBox="1"/>
          <p:nvPr/>
        </p:nvSpPr>
        <p:spPr>
          <a:xfrm>
            <a:off x="-1" y="533459"/>
            <a:ext cx="59966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Rooms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룸 타입별 실제 객실 종류 등록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Item Name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아이템 이름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Item Code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아이템 코드 설정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자체 생성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Department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소속 부서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구분자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Quantity In Stock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 수량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Default Quantity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기본 수량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5DCCA-EF62-0218-C9E0-AEC3E0630E77}"/>
              </a:ext>
            </a:extLst>
          </p:cNvPr>
          <p:cNvSpPr txBox="1"/>
          <p:nvPr/>
        </p:nvSpPr>
        <p:spPr>
          <a:xfrm>
            <a:off x="5996608" y="364182"/>
            <a:ext cx="6195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Available From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시작시간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Available To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종료시간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850BC4-C129-00FC-BC38-863FE24AB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186" y="99588"/>
            <a:ext cx="2061173" cy="113807"/>
          </a:xfrm>
          <a:prstGeom prst="rect">
            <a:avLst/>
          </a:prstGeom>
        </p:spPr>
      </p:pic>
      <p:pic>
        <p:nvPicPr>
          <p:cNvPr id="13" name="그림 12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05D14EAE-1C90-E035-0D8C-57073A6E20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221" y="2425980"/>
            <a:ext cx="5856779" cy="443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940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2E1F2F-2B6B-28FC-0754-B017D1086802}"/>
              </a:ext>
            </a:extLst>
          </p:cNvPr>
          <p:cNvSpPr txBox="1"/>
          <p:nvPr/>
        </p:nvSpPr>
        <p:spPr>
          <a:xfrm>
            <a:off x="-1" y="0"/>
            <a:ext cx="677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Management &gt; Codes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6931A-550D-BFD4-B012-F61E087533A8}"/>
              </a:ext>
            </a:extLst>
          </p:cNvPr>
          <p:cNvSpPr txBox="1"/>
          <p:nvPr/>
        </p:nvSpPr>
        <p:spPr>
          <a:xfrm>
            <a:off x="-1" y="533459"/>
            <a:ext cx="59966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Market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Groups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룸 판매를 위한 그룹 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Market Group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마켓 그룹 입력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Description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Display Seq.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표기 순서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850BC4-C129-00FC-BC38-863FE24AB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186" y="99588"/>
            <a:ext cx="2061173" cy="113807"/>
          </a:xfrm>
          <a:prstGeom prst="rect">
            <a:avLst/>
          </a:prstGeom>
        </p:spPr>
      </p:pic>
      <p:pic>
        <p:nvPicPr>
          <p:cNvPr id="4" name="그림 3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3E05224B-3599-F549-C02C-88FDF8B407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25979"/>
            <a:ext cx="5860227" cy="4432019"/>
          </a:xfrm>
          <a:prstGeom prst="rect">
            <a:avLst/>
          </a:prstGeom>
        </p:spPr>
      </p:pic>
      <p:pic>
        <p:nvPicPr>
          <p:cNvPr id="10" name="그림 9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F92A874B-FFA5-8238-E496-B7D1AEACB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865" y="2425978"/>
            <a:ext cx="5840135" cy="443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658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2E1F2F-2B6B-28FC-0754-B017D1086802}"/>
              </a:ext>
            </a:extLst>
          </p:cNvPr>
          <p:cNvSpPr txBox="1"/>
          <p:nvPr/>
        </p:nvSpPr>
        <p:spPr>
          <a:xfrm>
            <a:off x="-1" y="0"/>
            <a:ext cx="677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Management &gt; Codes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6931A-550D-BFD4-B012-F61E087533A8}"/>
              </a:ext>
            </a:extLst>
          </p:cNvPr>
          <p:cNvSpPr txBox="1"/>
          <p:nvPr/>
        </p:nvSpPr>
        <p:spPr>
          <a:xfrm>
            <a:off x="-1" y="533459"/>
            <a:ext cx="59966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Market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Codes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룸 판매를 위한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Market Code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Market Code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마켓 코드 입력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Description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Market Group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마켓 그룹 선택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Display Color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색상 선택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(Opera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내부 기능을 위한 구분 색상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Display Seq.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표기 순서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850BC4-C129-00FC-BC38-863FE24AB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186" y="99588"/>
            <a:ext cx="2061173" cy="113807"/>
          </a:xfrm>
          <a:prstGeom prst="rect">
            <a:avLst/>
          </a:prstGeom>
        </p:spPr>
      </p:pic>
      <p:pic>
        <p:nvPicPr>
          <p:cNvPr id="5" name="그림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B1324ECB-1767-3392-F6A1-4EE53CDDAC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5977"/>
            <a:ext cx="5830006" cy="4432020"/>
          </a:xfrm>
          <a:prstGeom prst="rect">
            <a:avLst/>
          </a:prstGeom>
        </p:spPr>
      </p:pic>
      <p:pic>
        <p:nvPicPr>
          <p:cNvPr id="9" name="그림 8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E642FAE6-4ABE-A4BF-F309-30258E3CC5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994" y="2437500"/>
            <a:ext cx="5830006" cy="442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25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2E1F2F-2B6B-28FC-0754-B017D1086802}"/>
              </a:ext>
            </a:extLst>
          </p:cNvPr>
          <p:cNvSpPr txBox="1"/>
          <p:nvPr/>
        </p:nvSpPr>
        <p:spPr>
          <a:xfrm>
            <a:off x="-1" y="0"/>
            <a:ext cx="677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Management &gt; Codes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6931A-550D-BFD4-B012-F61E087533A8}"/>
              </a:ext>
            </a:extLst>
          </p:cNvPr>
          <p:cNvSpPr txBox="1"/>
          <p:nvPr/>
        </p:nvSpPr>
        <p:spPr>
          <a:xfrm>
            <a:off x="-1" y="533459"/>
            <a:ext cx="599660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Source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Groups</a:t>
            </a:r>
          </a:p>
          <a:p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Source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Groups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그룹명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Description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Display Seq.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표기 순서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850BC4-C129-00FC-BC38-863FE24AB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186" y="99588"/>
            <a:ext cx="2061173" cy="113807"/>
          </a:xfrm>
          <a:prstGeom prst="rect">
            <a:avLst/>
          </a:prstGeom>
        </p:spPr>
      </p:pic>
      <p:pic>
        <p:nvPicPr>
          <p:cNvPr id="4" name="그림 3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A8653CD0-49AC-429A-1974-D3805DE544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7500"/>
            <a:ext cx="5828173" cy="4420500"/>
          </a:xfrm>
          <a:prstGeom prst="rect">
            <a:avLst/>
          </a:prstGeom>
        </p:spPr>
      </p:pic>
      <p:pic>
        <p:nvPicPr>
          <p:cNvPr id="10" name="그림 9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21E9ABAB-1482-6F6B-3DE5-93FC52039A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827" y="2431218"/>
            <a:ext cx="5828173" cy="442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106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2E1F2F-2B6B-28FC-0754-B017D1086802}"/>
              </a:ext>
            </a:extLst>
          </p:cNvPr>
          <p:cNvSpPr txBox="1"/>
          <p:nvPr/>
        </p:nvSpPr>
        <p:spPr>
          <a:xfrm>
            <a:off x="-1" y="0"/>
            <a:ext cx="677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Management &gt; Codes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6931A-550D-BFD4-B012-F61E087533A8}"/>
              </a:ext>
            </a:extLst>
          </p:cNvPr>
          <p:cNvSpPr txBox="1"/>
          <p:nvPr/>
        </p:nvSpPr>
        <p:spPr>
          <a:xfrm>
            <a:off x="-1" y="533459"/>
            <a:ext cx="59966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Source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Codes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예약 방식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(Site)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코드 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Source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Code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코드명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Description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Source Groups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그룹 선택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Display Seq.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표기 순서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850BC4-C129-00FC-BC38-863FE24AB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186" y="99588"/>
            <a:ext cx="2061173" cy="113807"/>
          </a:xfrm>
          <a:prstGeom prst="rect">
            <a:avLst/>
          </a:prstGeom>
        </p:spPr>
      </p:pic>
      <p:pic>
        <p:nvPicPr>
          <p:cNvPr id="5" name="그림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54657557-FC10-7089-DE73-F7081DFD7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31218"/>
            <a:ext cx="5834843" cy="4426782"/>
          </a:xfrm>
          <a:prstGeom prst="rect">
            <a:avLst/>
          </a:prstGeom>
        </p:spPr>
      </p:pic>
      <p:pic>
        <p:nvPicPr>
          <p:cNvPr id="9" name="그림 8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7596BC31-59B1-9213-16A0-2DD00B7894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479" y="2431218"/>
            <a:ext cx="5821521" cy="442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180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2E1F2F-2B6B-28FC-0754-B017D1086802}"/>
              </a:ext>
            </a:extLst>
          </p:cNvPr>
          <p:cNvSpPr txBox="1"/>
          <p:nvPr/>
        </p:nvSpPr>
        <p:spPr>
          <a:xfrm>
            <a:off x="-1" y="0"/>
            <a:ext cx="677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Management &gt; Rate Classification &gt; Rate Classes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6931A-550D-BFD4-B012-F61E087533A8}"/>
              </a:ext>
            </a:extLst>
          </p:cNvPr>
          <p:cNvSpPr txBox="1"/>
          <p:nvPr/>
        </p:nvSpPr>
        <p:spPr>
          <a:xfrm>
            <a:off x="-1" y="533459"/>
            <a:ext cx="59966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Classes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등급체계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Class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등급 명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Description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Display Seq.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표기 순서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Begin Date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시작일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850BC4-C129-00FC-BC38-863FE24AB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186" y="99588"/>
            <a:ext cx="2061173" cy="113807"/>
          </a:xfrm>
          <a:prstGeom prst="rect">
            <a:avLst/>
          </a:prstGeom>
        </p:spPr>
      </p:pic>
      <p:pic>
        <p:nvPicPr>
          <p:cNvPr id="4" name="그림 3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0EF773D1-C194-07FF-6652-3557070554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1218"/>
            <a:ext cx="5848226" cy="4426782"/>
          </a:xfrm>
          <a:prstGeom prst="rect">
            <a:avLst/>
          </a:prstGeom>
        </p:spPr>
      </p:pic>
      <p:pic>
        <p:nvPicPr>
          <p:cNvPr id="10" name="그림 9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61BE10F5-5759-E9D5-8E05-1208FE1B1C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882" y="2431216"/>
            <a:ext cx="5823117" cy="442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544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2E1F2F-2B6B-28FC-0754-B017D1086802}"/>
              </a:ext>
            </a:extLst>
          </p:cNvPr>
          <p:cNvSpPr txBox="1"/>
          <p:nvPr/>
        </p:nvSpPr>
        <p:spPr>
          <a:xfrm>
            <a:off x="-1" y="0"/>
            <a:ext cx="677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Management &gt; Rate Classification &gt; Rate Category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6931A-550D-BFD4-B012-F61E087533A8}"/>
              </a:ext>
            </a:extLst>
          </p:cNvPr>
          <p:cNvSpPr txBox="1"/>
          <p:nvPr/>
        </p:nvSpPr>
        <p:spPr>
          <a:xfrm>
            <a:off x="-1" y="533459"/>
            <a:ext cx="59966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Category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카테고리 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Category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카테고리 명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Description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Class = Rate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등급 선택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Begin Date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 시작일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End Date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 종료일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850BC4-C129-00FC-BC38-863FE24AB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186" y="99588"/>
            <a:ext cx="2061173" cy="113807"/>
          </a:xfrm>
          <a:prstGeom prst="rect">
            <a:avLst/>
          </a:prstGeom>
        </p:spPr>
      </p:pic>
      <p:pic>
        <p:nvPicPr>
          <p:cNvPr id="5" name="그림 4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id="{0CCDD497-1867-E74D-6B61-1859D32F5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1215"/>
            <a:ext cx="5819933" cy="4426783"/>
          </a:xfrm>
          <a:prstGeom prst="rect">
            <a:avLst/>
          </a:prstGeom>
        </p:spPr>
      </p:pic>
      <p:pic>
        <p:nvPicPr>
          <p:cNvPr id="9" name="그림 8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E72265D9-AB6B-BCB1-7026-0065B17EB2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754" y="2431214"/>
            <a:ext cx="5836460" cy="442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19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2E1F2F-2B6B-28FC-0754-B017D1086802}"/>
              </a:ext>
            </a:extLst>
          </p:cNvPr>
          <p:cNvSpPr txBox="1"/>
          <p:nvPr/>
        </p:nvSpPr>
        <p:spPr>
          <a:xfrm>
            <a:off x="-1" y="0"/>
            <a:ext cx="677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Management &gt; Rate Classification &gt; Rate Codes#1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6931A-550D-BFD4-B012-F61E087533A8}"/>
              </a:ext>
            </a:extLst>
          </p:cNvPr>
          <p:cNvSpPr txBox="1"/>
          <p:nvPr/>
        </p:nvSpPr>
        <p:spPr>
          <a:xfrm>
            <a:off x="-1" y="533459"/>
            <a:ext cx="59966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Codes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Code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Code = Rate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코드 명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Description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Category = Rate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카테고리 선택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Begin Sell Date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판매 시작일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End Sell Date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판매 종료일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850BC4-C129-00FC-BC38-863FE24AB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186" y="99588"/>
            <a:ext cx="2061173" cy="113807"/>
          </a:xfrm>
          <a:prstGeom prst="rect">
            <a:avLst/>
          </a:prstGeom>
        </p:spPr>
      </p:pic>
      <p:pic>
        <p:nvPicPr>
          <p:cNvPr id="4" name="그림 3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id="{D383B838-50B2-6775-F1FD-9B4F4B776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1213"/>
            <a:ext cx="5818062" cy="4426786"/>
          </a:xfrm>
          <a:prstGeom prst="rect">
            <a:avLst/>
          </a:prstGeom>
        </p:spPr>
      </p:pic>
      <p:pic>
        <p:nvPicPr>
          <p:cNvPr id="10" name="그림 9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90AA6C09-C264-B022-50E5-EF2D0ECC16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759" y="2431212"/>
            <a:ext cx="5833241" cy="44267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EE1C48-A611-18B8-59DB-3CB0B8B55613}"/>
              </a:ext>
            </a:extLst>
          </p:cNvPr>
          <p:cNvSpPr txBox="1"/>
          <p:nvPr/>
        </p:nvSpPr>
        <p:spPr>
          <a:xfrm>
            <a:off x="5996608" y="533459"/>
            <a:ext cx="59966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Market = Market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Source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예약을 받을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Site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Room Types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Code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적용할 객실 타입 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Package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패키지 상품일 경우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패키지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Minimum Stay Through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최소 숙박일수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Maximum Stay Through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 숙박일수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Transaction Code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재무 거래 코드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Channel Allowed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채널 허용 여부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(Non Checking = OWS Unused)</a:t>
            </a:r>
          </a:p>
        </p:txBody>
      </p:sp>
    </p:spTree>
    <p:extLst>
      <p:ext uri="{BB962C8B-B14F-4D97-AF65-F5344CB8AC3E}">
        <p14:creationId xmlns:p14="http://schemas.microsoft.com/office/powerpoint/2010/main" val="1864237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2E1F2F-2B6B-28FC-0754-B017D1086802}"/>
              </a:ext>
            </a:extLst>
          </p:cNvPr>
          <p:cNvSpPr txBox="1"/>
          <p:nvPr/>
        </p:nvSpPr>
        <p:spPr>
          <a:xfrm>
            <a:off x="-1" y="0"/>
            <a:ext cx="677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Management &gt; Rate Classification &gt; Rate Codes#2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6931A-550D-BFD4-B012-F61E087533A8}"/>
              </a:ext>
            </a:extLst>
          </p:cNvPr>
          <p:cNvSpPr txBox="1"/>
          <p:nvPr/>
        </p:nvSpPr>
        <p:spPr>
          <a:xfrm>
            <a:off x="-1" y="533459"/>
            <a:ext cx="59966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Start Date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판매 시작일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End Date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판매 종료일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Amounts Section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성인 인원수 별 가격 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Children on Own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소인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인원수 별 가격 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Base Amount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기본 가격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Base Type = Flat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or Percentage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Room Types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일자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가격을 적용할 룸 타입 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850BC4-C129-00FC-BC38-863FE24AB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186" y="99588"/>
            <a:ext cx="2061173" cy="1138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EE1C48-A611-18B8-59DB-3CB0B8B55613}"/>
              </a:ext>
            </a:extLst>
          </p:cNvPr>
          <p:cNvSpPr txBox="1"/>
          <p:nvPr/>
        </p:nvSpPr>
        <p:spPr>
          <a:xfrm>
            <a:off x="5996608" y="531793"/>
            <a:ext cx="59966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Base Rate Section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고정 가격을 받을 경우 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Advance Dynamic Base Rate Section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일자 혹은 요일별 가격이 다를 경우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Rounding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소수점 처리 방식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" name="그림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4127EA95-9F04-310F-CF6C-9E15E71BF7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31212"/>
            <a:ext cx="5841534" cy="4426788"/>
          </a:xfrm>
          <a:prstGeom prst="rect">
            <a:avLst/>
          </a:prstGeom>
        </p:spPr>
      </p:pic>
      <p:pic>
        <p:nvPicPr>
          <p:cNvPr id="9" name="그림 8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781F7BA7-E9CF-EAF4-9AD0-1EC4547E4A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463" y="2419852"/>
            <a:ext cx="5841535" cy="443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448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2E1F2F-2B6B-28FC-0754-B017D1086802}"/>
              </a:ext>
            </a:extLst>
          </p:cNvPr>
          <p:cNvSpPr txBox="1"/>
          <p:nvPr/>
        </p:nvSpPr>
        <p:spPr>
          <a:xfrm>
            <a:off x="-1" y="0"/>
            <a:ext cx="677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Management &gt; Packages &gt; Codes#1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6931A-550D-BFD4-B012-F61E087533A8}"/>
              </a:ext>
            </a:extLst>
          </p:cNvPr>
          <p:cNvSpPr txBox="1"/>
          <p:nvPr/>
        </p:nvSpPr>
        <p:spPr>
          <a:xfrm>
            <a:off x="-1" y="533459"/>
            <a:ext cx="59966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Packages Codes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패키지 코드 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Code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코드명 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Short Description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짧은 설명 </a:t>
            </a: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Description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Forecast Group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예측 그룹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Transaction Details Section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재무 거래 코드 선택 및 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850BC4-C129-00FC-BC38-863FE24AB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186" y="99588"/>
            <a:ext cx="2061173" cy="113807"/>
          </a:xfrm>
          <a:prstGeom prst="rect">
            <a:avLst/>
          </a:prstGeom>
        </p:spPr>
      </p:pic>
      <p:pic>
        <p:nvPicPr>
          <p:cNvPr id="4" name="그림 3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C6A6E954-0EF7-CFA0-D8CE-08E6D48A5F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19852"/>
            <a:ext cx="5844746" cy="4438148"/>
          </a:xfrm>
          <a:prstGeom prst="rect">
            <a:avLst/>
          </a:prstGeom>
        </p:spPr>
      </p:pic>
      <p:pic>
        <p:nvPicPr>
          <p:cNvPr id="10" name="그림 9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2C3AB8BD-28DB-5A79-E0FB-82E4112D0E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253" y="2404618"/>
            <a:ext cx="5844746" cy="445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033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2E1F2F-2B6B-28FC-0754-B017D1086802}"/>
              </a:ext>
            </a:extLst>
          </p:cNvPr>
          <p:cNvSpPr txBox="1"/>
          <p:nvPr/>
        </p:nvSpPr>
        <p:spPr>
          <a:xfrm>
            <a:off x="-1" y="0"/>
            <a:ext cx="677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Rate Management &gt; Packages &gt; Codes#2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6931A-550D-BFD4-B012-F61E087533A8}"/>
              </a:ext>
            </a:extLst>
          </p:cNvPr>
          <p:cNvSpPr txBox="1"/>
          <p:nvPr/>
        </p:nvSpPr>
        <p:spPr>
          <a:xfrm>
            <a:off x="-1" y="533459"/>
            <a:ext cx="59966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Packages Codes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패키지 코드 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Start Date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판매 시작일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End Date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판매 종료일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Price = </a:t>
            </a:r>
            <a:r>
              <a:rPr lang="ko-KR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설정 일자 구간별 요금 설정</a:t>
            </a:r>
            <a:endParaRPr lang="en-US" altLang="ko-KR" sz="1400" dirty="0">
              <a:solidFill>
                <a:schemeClr val="tx2">
                  <a:lumMod val="75000"/>
                  <a:lumOff val="2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850BC4-C129-00FC-BC38-863FE24AB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186" y="99588"/>
            <a:ext cx="2061173" cy="113807"/>
          </a:xfrm>
          <a:prstGeom prst="rect">
            <a:avLst/>
          </a:prstGeom>
        </p:spPr>
      </p:pic>
      <p:pic>
        <p:nvPicPr>
          <p:cNvPr id="5" name="그림 4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37AC62E7-CD73-315F-8BB4-719065E79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20041"/>
            <a:ext cx="5844747" cy="443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32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7cdb299-17a2-465a-b8dd-a80adaf450c3}" enabled="1" method="Privileged" siteId="{d4ffc887-d88d-41cc-bf6a-6bb47ec0f3c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Words>804</Words>
  <TotalTime>0</TotalTime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김윤환(파트너) - IT운영</dc:creator>
  <dcterms:modified xsi:type="dcterms:W3CDTF">2024-12-06T06:57:33Z</dcterms:modified>
  <dc:title/>
  <cp:lastModifiedBy>김윤환(파트너) - IT운영</cp:lastModifiedBy>
  <dcterms:created xsi:type="dcterms:W3CDTF">2024-12-04T15:06:26Z</dcterms:created>
  <cp:revision>37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테마:8</vt:lpwstr>
  </property>
  <property fmtid="{D5CDD505-2E9C-101B-9397-08002B2CF9AE}" pid="3" name="ClassificationContentMarkingFooterText">
    <vt:lpwstr>scalaryh@josunhotel.com, 김윤환(파트너) - IT운영, 제목 없음, 2024-12-05T00:59:23</vt:lpwstr>
  </property>
</Properties>
</file>