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7"/>
  </p:notesMasterIdLst>
  <p:handoutMasterIdLst>
    <p:handoutMasterId r:id="rId8"/>
  </p:handoutMasterIdLst>
  <p:sldIdLst>
    <p:sldId id="593" r:id="rId2"/>
    <p:sldId id="594" r:id="rId3"/>
    <p:sldId id="1279" r:id="rId4"/>
    <p:sldId id="1243" r:id="rId5"/>
    <p:sldId id="1306" r:id="rId6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매출관리" id="{E001F80A-F6AA-C54F-9CE7-2F41E3FCFC87}">
          <p14:sldIdLst>
            <p14:sldId id="1279"/>
            <p14:sldId id="1243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0E0E0"/>
    <a:srgbClr val="E4E4E4"/>
    <a:srgbClr val="0E273B"/>
    <a:srgbClr val="FFFFFF"/>
    <a:srgbClr val="0971CE"/>
    <a:srgbClr val="BEDDFA"/>
    <a:srgbClr val="21AB7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6966" autoAdjust="0"/>
  </p:normalViewPr>
  <p:slideViewPr>
    <p:cSldViewPr>
      <p:cViewPr>
        <p:scale>
          <a:sx n="218" d="100"/>
          <a:sy n="218" d="100"/>
        </p:scale>
        <p:origin x="1296" y="-26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2025. 1. 24.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248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69C4-AEDC-7A82-848C-BC963C50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7597F-E76A-BA45-0030-13CAE4D7B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074414-D974-F9D7-19D6-DC37405D8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DC91F8-0A40-2B07-BBF9-DDBE018C4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9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정산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79644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FFDBE39-250E-98EB-F500-016920480DBE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매출관리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8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월별 매출 관리</a:t>
            </a:r>
            <a:r>
              <a:rPr lang="en-US" altLang="ko-KR" dirty="0"/>
              <a:t>(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정산 관리 </a:t>
            </a:r>
            <a:r>
              <a:rPr lang="en-US" altLang="ko-KR" dirty="0"/>
              <a:t>&gt;</a:t>
            </a:r>
            <a:r>
              <a:rPr lang="ko-KR" altLang="en-US" dirty="0"/>
              <a:t> 월별 매출관리 리스트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정산관리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407895D-2D2A-C3E4-C18C-629F79FCE43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A6A14EE-3E9A-1EA2-373D-B30F79BC725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정산관리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F04C3AE-4201-0BDD-C089-13E1DBC8A4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C634A4-673D-C4EB-E18A-7E4E821F5D3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F1E7BA9A-90E9-5F2C-48E6-57F9A27FDB7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15A131AD-9162-4C6A-8031-55AD3B2E1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44709"/>
              </p:ext>
            </p:extLst>
          </p:nvPr>
        </p:nvGraphicFramePr>
        <p:xfrm>
          <a:off x="1448266" y="908719"/>
          <a:ext cx="7816085" cy="45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선택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33435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A4175CA-2C82-7FA8-988D-D0E45071F4B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30348A7-764D-C89B-1AA5-90FE9DE7B662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52" name="Pagination">
            <a:extLst>
              <a:ext uri="{FF2B5EF4-FFF2-40B4-BE49-F238E27FC236}">
                <a16:creationId xmlns:a16="http://schemas.microsoft.com/office/drawing/2014/main" id="{905774A8-6F0C-13CF-3A8C-8CF7645DE99D}"/>
              </a:ext>
            </a:extLst>
          </p:cNvPr>
          <p:cNvSpPr txBox="1"/>
          <p:nvPr/>
        </p:nvSpPr>
        <p:spPr>
          <a:xfrm>
            <a:off x="4737445" y="480244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E9DB376-F5B0-6E98-925A-C6935DC1F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42213"/>
              </p:ext>
            </p:extLst>
          </p:nvPr>
        </p:nvGraphicFramePr>
        <p:xfrm>
          <a:off x="9406740" y="440717"/>
          <a:ext cx="2785260" cy="4002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년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(2025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추가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(1~12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월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박스 값 정의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전체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</a:t>
                      </a: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CHECK-IN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INHOUSE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CHECKED-OUT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NO-SHOW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CANCELED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조회된 해당월 전체 엑셀다운로드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월 기준은 </a:t>
                      </a:r>
                      <a:r>
                        <a:rPr lang="ko-KR" altLang="en-US" sz="800" b="0" i="0" strike="noStrike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예약일 기준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8" name="Text Box">
            <a:extLst>
              <a:ext uri="{FF2B5EF4-FFF2-40B4-BE49-F238E27FC236}">
                <a16:creationId xmlns:a16="http://schemas.microsoft.com/office/drawing/2014/main" id="{A0F81B3A-3BC0-89A9-834B-8F3CE380FAF1}"/>
              </a:ext>
            </a:extLst>
          </p:cNvPr>
          <p:cNvSpPr>
            <a:spLocks/>
          </p:cNvSpPr>
          <p:nvPr/>
        </p:nvSpPr>
        <p:spPr bwMode="auto">
          <a:xfrm>
            <a:off x="2723003" y="932027"/>
            <a:ext cx="240161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968B0D-038C-6218-3F4B-CCED2EF571AE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110990-CB53-9D87-F67B-1ED4761A55C3}"/>
              </a:ext>
            </a:extLst>
          </p:cNvPr>
          <p:cNvSpPr/>
          <p:nvPr/>
        </p:nvSpPr>
        <p:spPr>
          <a:xfrm>
            <a:off x="-14" y="808615"/>
            <a:ext cx="1318349" cy="301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월별 매출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D836E64B-1C1D-F723-3079-1EE2C14C8FA7}"/>
              </a:ext>
            </a:extLst>
          </p:cNvPr>
          <p:cNvSpPr>
            <a:spLocks/>
          </p:cNvSpPr>
          <p:nvPr/>
        </p:nvSpPr>
        <p:spPr bwMode="auto">
          <a:xfrm>
            <a:off x="5160517" y="932027"/>
            <a:ext cx="240161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7EF8D7F-5029-15AA-1D2F-2F1B7A97E0C3}"/>
              </a:ext>
            </a:extLst>
          </p:cNvPr>
          <p:cNvGrpSpPr/>
          <p:nvPr/>
        </p:nvGrpSpPr>
        <p:grpSpPr>
          <a:xfrm>
            <a:off x="2722194" y="1160929"/>
            <a:ext cx="891233" cy="174800"/>
            <a:chOff x="1244327" y="2887118"/>
            <a:chExt cx="891233" cy="174800"/>
          </a:xfrm>
        </p:grpSpPr>
        <p:sp>
          <p:nvSpPr>
            <p:cNvPr id="32" name="Text Box">
              <a:extLst>
                <a:ext uri="{FF2B5EF4-FFF2-40B4-BE49-F238E27FC236}">
                  <a16:creationId xmlns:a16="http://schemas.microsoft.com/office/drawing/2014/main" id="{0532EB70-E320-5FE3-5EAA-DEADC497C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년도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3" name="Chevron Left">
              <a:extLst>
                <a:ext uri="{FF2B5EF4-FFF2-40B4-BE49-F238E27FC236}">
                  <a16:creationId xmlns:a16="http://schemas.microsoft.com/office/drawing/2014/main" id="{65B89AC7-7649-996B-B02F-30E6F51B058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2F3E11A-ADB8-EB38-6E49-43CEDEA1C077}"/>
              </a:ext>
            </a:extLst>
          </p:cNvPr>
          <p:cNvGrpSpPr/>
          <p:nvPr/>
        </p:nvGrpSpPr>
        <p:grpSpPr>
          <a:xfrm>
            <a:off x="3651750" y="1160929"/>
            <a:ext cx="891233" cy="174800"/>
            <a:chOff x="1244327" y="2887118"/>
            <a:chExt cx="891233" cy="174800"/>
          </a:xfrm>
        </p:grpSpPr>
        <p:sp>
          <p:nvSpPr>
            <p:cNvPr id="35" name="Text Box">
              <a:extLst>
                <a:ext uri="{FF2B5EF4-FFF2-40B4-BE49-F238E27FC236}">
                  <a16:creationId xmlns:a16="http://schemas.microsoft.com/office/drawing/2014/main" id="{C004528C-D3AD-CE83-03D0-C70DE37A5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월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Chevron Left">
              <a:extLst>
                <a:ext uri="{FF2B5EF4-FFF2-40B4-BE49-F238E27FC236}">
                  <a16:creationId xmlns:a16="http://schemas.microsoft.com/office/drawing/2014/main" id="{EEF91FE1-3D31-E6D3-57CC-679D4F3C1C7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7D582AF-51C5-89CA-1C77-B5C8F2E95067}"/>
              </a:ext>
            </a:extLst>
          </p:cNvPr>
          <p:cNvGrpSpPr/>
          <p:nvPr/>
        </p:nvGrpSpPr>
        <p:grpSpPr>
          <a:xfrm>
            <a:off x="6667754" y="1160929"/>
            <a:ext cx="891233" cy="174800"/>
            <a:chOff x="1244327" y="2887118"/>
            <a:chExt cx="891233" cy="174800"/>
          </a:xfrm>
        </p:grpSpPr>
        <p:sp>
          <p:nvSpPr>
            <p:cNvPr id="38" name="Text Box">
              <a:extLst>
                <a:ext uri="{FF2B5EF4-FFF2-40B4-BE49-F238E27FC236}">
                  <a16:creationId xmlns:a16="http://schemas.microsoft.com/office/drawing/2014/main" id="{98C7A687-9E20-0ECA-BB86-FA76F665F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전체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Chevron Left">
              <a:extLst>
                <a:ext uri="{FF2B5EF4-FFF2-40B4-BE49-F238E27FC236}">
                  <a16:creationId xmlns:a16="http://schemas.microsoft.com/office/drawing/2014/main" id="{5A7B86AC-F30E-4464-7A6C-D5DB7B12BC7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3C5A0E-F508-A89C-2FB4-3312D2E14944}"/>
              </a:ext>
            </a:extLst>
          </p:cNvPr>
          <p:cNvSpPr/>
          <p:nvPr/>
        </p:nvSpPr>
        <p:spPr>
          <a:xfrm>
            <a:off x="8722928" y="1492065"/>
            <a:ext cx="540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엑셀다운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2DB8FA0B-F4C7-90CC-B1D4-CF6EBCB2C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90860"/>
              </p:ext>
            </p:extLst>
          </p:nvPr>
        </p:nvGraphicFramePr>
        <p:xfrm>
          <a:off x="1447437" y="3429000"/>
          <a:ext cx="781608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76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774419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2817795794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1900590060"/>
                    </a:ext>
                  </a:extLst>
                </a:gridCol>
                <a:gridCol w="876767">
                  <a:extLst>
                    <a:ext uri="{9D8B030D-6E8A-4147-A177-3AD203B41FA5}">
                      <a16:colId xmlns:a16="http://schemas.microsoft.com/office/drawing/2014/main" val="3716939892"/>
                    </a:ext>
                  </a:extLst>
                </a:gridCol>
                <a:gridCol w="876767">
                  <a:extLst>
                    <a:ext uri="{9D8B030D-6E8A-4147-A177-3AD203B41FA5}">
                      <a16:colId xmlns:a16="http://schemas.microsoft.com/office/drawing/2014/main" val="1335417130"/>
                    </a:ext>
                  </a:extLst>
                </a:gridCol>
                <a:gridCol w="987213">
                  <a:extLst>
                    <a:ext uri="{9D8B030D-6E8A-4147-A177-3AD203B41FA5}">
                      <a16:colId xmlns:a16="http://schemas.microsoft.com/office/drawing/2014/main" val="4130616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kern="1200" spc="-7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옵션금액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 합계 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서울신라호텔</a:t>
                      </a: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서울신라호텔</a:t>
                      </a: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서울신라호텔</a:t>
                      </a: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서울신라호텔</a:t>
                      </a: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 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0" lang="ko-KR" altLang="en-US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서울신라호텔</a:t>
                      </a: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3A663C19-3A24-0034-68DA-E877A669514B}"/>
              </a:ext>
            </a:extLst>
          </p:cNvPr>
          <p:cNvGrpSpPr/>
          <p:nvPr/>
        </p:nvGrpSpPr>
        <p:grpSpPr>
          <a:xfrm>
            <a:off x="1441381" y="1479770"/>
            <a:ext cx="1842121" cy="200055"/>
            <a:chOff x="1446413" y="1985887"/>
            <a:chExt cx="1842121" cy="2000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7141EB4-72AC-94C1-C4FC-060A55075D3F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D6EA341-8EA1-7AAF-4309-906386E50F44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44" name="Text Box">
                <a:extLst>
                  <a:ext uri="{FF2B5EF4-FFF2-40B4-BE49-F238E27FC236}">
                    <a16:creationId xmlns:a16="http://schemas.microsoft.com/office/drawing/2014/main" id="{B3A55C42-2A97-195E-FEC1-4953F9BDDF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5" name="Chevron Left">
                <a:extLst>
                  <a:ext uri="{FF2B5EF4-FFF2-40B4-BE49-F238E27FC236}">
                    <a16:creationId xmlns:a16="http://schemas.microsoft.com/office/drawing/2014/main" id="{E8260364-A16B-CC64-091E-16B7BD1D1E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6" name="Cutout">
            <a:extLst>
              <a:ext uri="{FF2B5EF4-FFF2-40B4-BE49-F238E27FC236}">
                <a16:creationId xmlns:a16="http://schemas.microsoft.com/office/drawing/2014/main" id="{8D7C2658-8C20-A866-1921-042B073B6A8B}"/>
              </a:ext>
            </a:extLst>
          </p:cNvPr>
          <p:cNvGrpSpPr/>
          <p:nvPr/>
        </p:nvGrpSpPr>
        <p:grpSpPr>
          <a:xfrm rot="16200000">
            <a:off x="5307386" y="-2218431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7" name="Fill">
              <a:extLst>
                <a:ext uri="{FF2B5EF4-FFF2-40B4-BE49-F238E27FC236}">
                  <a16:creationId xmlns:a16="http://schemas.microsoft.com/office/drawing/2014/main" id="{21BCFC13-C233-114C-0B8D-7A68CED2D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Border">
              <a:extLst>
                <a:ext uri="{FF2B5EF4-FFF2-40B4-BE49-F238E27FC236}">
                  <a16:creationId xmlns:a16="http://schemas.microsoft.com/office/drawing/2014/main" id="{5CB3DB4D-2DFB-ADDC-D95F-4EAED9466D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054CBC3-1274-CF64-5CA3-E06F8C6A7D30}"/>
              </a:ext>
            </a:extLst>
          </p:cNvPr>
          <p:cNvSpPr txBox="1"/>
          <p:nvPr/>
        </p:nvSpPr>
        <p:spPr>
          <a:xfrm>
            <a:off x="4097367" y="1628800"/>
            <a:ext cx="276870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매출이 없는 경우 또는 프로퍼티 조회가 안된 경우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초기 진입 상태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0" name="Pagination">
            <a:extLst>
              <a:ext uri="{FF2B5EF4-FFF2-40B4-BE49-F238E27FC236}">
                <a16:creationId xmlns:a16="http://schemas.microsoft.com/office/drawing/2014/main" id="{30B2F8D0-65AC-2EFD-F4D9-AC28CADFEC99}"/>
              </a:ext>
            </a:extLst>
          </p:cNvPr>
          <p:cNvSpPr txBox="1"/>
          <p:nvPr/>
        </p:nvSpPr>
        <p:spPr>
          <a:xfrm>
            <a:off x="4737446" y="2722553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2A3EE8B8-DD59-6B35-499A-F7ECAD0E9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715931"/>
              </p:ext>
            </p:extLst>
          </p:nvPr>
        </p:nvGraphicFramePr>
        <p:xfrm>
          <a:off x="1447438" y="2138562"/>
          <a:ext cx="781608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76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774419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2817795794"/>
                    </a:ext>
                  </a:extLst>
                </a:gridCol>
                <a:gridCol w="724863">
                  <a:extLst>
                    <a:ext uri="{9D8B030D-6E8A-4147-A177-3AD203B41FA5}">
                      <a16:colId xmlns:a16="http://schemas.microsoft.com/office/drawing/2014/main" val="1900590060"/>
                    </a:ext>
                  </a:extLst>
                </a:gridCol>
                <a:gridCol w="876767">
                  <a:extLst>
                    <a:ext uri="{9D8B030D-6E8A-4147-A177-3AD203B41FA5}">
                      <a16:colId xmlns:a16="http://schemas.microsoft.com/office/drawing/2014/main" val="3716939892"/>
                    </a:ext>
                  </a:extLst>
                </a:gridCol>
                <a:gridCol w="876767">
                  <a:extLst>
                    <a:ext uri="{9D8B030D-6E8A-4147-A177-3AD203B41FA5}">
                      <a16:colId xmlns:a16="http://schemas.microsoft.com/office/drawing/2014/main" val="1335417130"/>
                    </a:ext>
                  </a:extLst>
                </a:gridCol>
                <a:gridCol w="987213">
                  <a:extLst>
                    <a:ext uri="{9D8B030D-6E8A-4147-A177-3AD203B41FA5}">
                      <a16:colId xmlns:a16="http://schemas.microsoft.com/office/drawing/2014/main" val="4130616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kern="1200" spc="-7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옵션금액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 합계 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spc="-7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금월 매출 내역이 없습니다</a:t>
                      </a:r>
                      <a:r>
                        <a:rPr lang="en-US" altLang="ko-KR" sz="700" b="0" i="0" kern="1200" spc="-7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700" b="0" i="0" kern="1200" spc="-7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Teardrop 1">
            <a:extLst>
              <a:ext uri="{FF2B5EF4-FFF2-40B4-BE49-F238E27FC236}">
                <a16:creationId xmlns:a16="http://schemas.microsoft.com/office/drawing/2014/main" id="{B6FF7A19-64E5-DC8D-6EB1-9E1B37964205}"/>
              </a:ext>
            </a:extLst>
          </p:cNvPr>
          <p:cNvSpPr/>
          <p:nvPr/>
        </p:nvSpPr>
        <p:spPr>
          <a:xfrm rot="16200000" flipH="1" flipV="1">
            <a:off x="8597740" y="138008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ardrop 1">
            <a:extLst>
              <a:ext uri="{FF2B5EF4-FFF2-40B4-BE49-F238E27FC236}">
                <a16:creationId xmlns:a16="http://schemas.microsoft.com/office/drawing/2014/main" id="{AD78F863-0B39-50E1-54B6-FBD1376B3D45}"/>
              </a:ext>
            </a:extLst>
          </p:cNvPr>
          <p:cNvSpPr/>
          <p:nvPr/>
        </p:nvSpPr>
        <p:spPr>
          <a:xfrm rot="16200000" flipH="1" flipV="1">
            <a:off x="6523774" y="105541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AC1D0052-E1F9-97CA-D967-8F27D89FA0BD}"/>
              </a:ext>
            </a:extLst>
          </p:cNvPr>
          <p:cNvSpPr/>
          <p:nvPr/>
        </p:nvSpPr>
        <p:spPr>
          <a:xfrm rot="16200000" flipH="1" flipV="1">
            <a:off x="2614383" y="105541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78A92B-E3C4-A891-2019-E73ACCD87336}"/>
              </a:ext>
            </a:extLst>
          </p:cNvPr>
          <p:cNvSpPr txBox="1"/>
          <p:nvPr/>
        </p:nvSpPr>
        <p:spPr>
          <a:xfrm>
            <a:off x="4594354" y="1156389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337148-909F-DE61-6D58-A5E06310176E}"/>
              </a:ext>
            </a:extLst>
          </p:cNvPr>
          <p:cNvSpPr txBox="1"/>
          <p:nvPr/>
        </p:nvSpPr>
        <p:spPr>
          <a:xfrm>
            <a:off x="7562841" y="1156389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57" name="Cutout">
            <a:extLst>
              <a:ext uri="{FF2B5EF4-FFF2-40B4-BE49-F238E27FC236}">
                <a16:creationId xmlns:a16="http://schemas.microsoft.com/office/drawing/2014/main" id="{E0D10390-216F-6365-232C-7858DB439E68}"/>
              </a:ext>
            </a:extLst>
          </p:cNvPr>
          <p:cNvGrpSpPr/>
          <p:nvPr/>
        </p:nvGrpSpPr>
        <p:grpSpPr>
          <a:xfrm rot="16200000">
            <a:off x="5307386" y="-815929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58" name="Fill">
              <a:extLst>
                <a:ext uri="{FF2B5EF4-FFF2-40B4-BE49-F238E27FC236}">
                  <a16:creationId xmlns:a16="http://schemas.microsoft.com/office/drawing/2014/main" id="{91689B95-72FB-364B-9EDE-916F86E4C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Border">
              <a:extLst>
                <a:ext uri="{FF2B5EF4-FFF2-40B4-BE49-F238E27FC236}">
                  <a16:creationId xmlns:a16="http://schemas.microsoft.com/office/drawing/2014/main" id="{86157A32-D3D4-6612-D54A-C720E5544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687BA76-9720-B764-986F-A92131310552}"/>
              </a:ext>
            </a:extLst>
          </p:cNvPr>
          <p:cNvSpPr txBox="1"/>
          <p:nvPr/>
        </p:nvSpPr>
        <p:spPr>
          <a:xfrm>
            <a:off x="5003613" y="3031302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결과 조회 후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8F52CD64-C0FF-8A9F-5457-A9CD76695602}"/>
              </a:ext>
            </a:extLst>
          </p:cNvPr>
          <p:cNvSpPr/>
          <p:nvPr/>
        </p:nvSpPr>
        <p:spPr>
          <a:xfrm rot="16200000" flipH="1" flipV="1">
            <a:off x="8271199" y="5629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FB1B-A29C-F27C-1BCB-F288665F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F9FFD56-88F4-6FB2-31C6-2E157FF1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월별 매출 관리</a:t>
            </a:r>
            <a:r>
              <a:rPr lang="en-US" altLang="ko-KR" dirty="0"/>
              <a:t>(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7101ADC-5EC3-B431-91AA-2AB070B71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정산 관리 </a:t>
            </a:r>
            <a:r>
              <a:rPr lang="en-US" altLang="ko-KR" dirty="0"/>
              <a:t>&gt;</a:t>
            </a:r>
            <a:r>
              <a:rPr lang="ko-KR" altLang="en-US" dirty="0"/>
              <a:t> 월별 매출관리 리스트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028C82D-1949-9AF4-A347-C18FDAD85D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5B0CA16-DAFD-0F72-EB55-A56EEF12A9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정산관리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B079E578-4D50-5377-3BAC-1E033C305A0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75AB63F-A4C3-3FF7-6440-60364796C9C9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정산관리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9DA3F9FF-9623-C2D7-0057-D8B95D97E2D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A94450E-2E3E-5AFA-D617-125DAC69B3D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그룹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5A37C6E4-2FC6-F5DC-458E-38EFCEBEF9E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7B1E1425-1884-FAA6-5977-3827F678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51393"/>
              </p:ext>
            </p:extLst>
          </p:nvPr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33435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B7758526-D02B-B7A2-087B-56BCF2389B9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A397F7B-78F9-E410-2526-B74BB9E9EB8D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52" name="Pagination">
            <a:extLst>
              <a:ext uri="{FF2B5EF4-FFF2-40B4-BE49-F238E27FC236}">
                <a16:creationId xmlns:a16="http://schemas.microsoft.com/office/drawing/2014/main" id="{D6EC9D71-906E-04E8-1B4F-35EF30441C6D}"/>
              </a:ext>
            </a:extLst>
          </p:cNvPr>
          <p:cNvSpPr txBox="1"/>
          <p:nvPr/>
        </p:nvSpPr>
        <p:spPr>
          <a:xfrm>
            <a:off x="4737445" y="2865844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2A663D81-D753-8C1E-E227-3ABE6485F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71414"/>
              </p:ext>
            </p:extLst>
          </p:nvPr>
        </p:nvGraphicFramePr>
        <p:xfrm>
          <a:off x="9406740" y="440717"/>
          <a:ext cx="2785260" cy="328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협력업체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진입 시 협력업체 로그인 계정 기준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월 조회 결과 값 출력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34123C-7ED9-BE42-1ADF-FAF114E99C00}"/>
              </a:ext>
            </a:extLst>
          </p:cNvPr>
          <p:cNvSpPr/>
          <p:nvPr/>
        </p:nvSpPr>
        <p:spPr bwMode="auto">
          <a:xfrm>
            <a:off x="-106106" y="9197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02C903-DA39-F9C5-5E01-C976EFFF1E49}"/>
              </a:ext>
            </a:extLst>
          </p:cNvPr>
          <p:cNvSpPr/>
          <p:nvPr/>
        </p:nvSpPr>
        <p:spPr>
          <a:xfrm>
            <a:off x="-14" y="808615"/>
            <a:ext cx="1318349" cy="301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월별 매출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3880332-F41D-BEDE-00EF-DE692ECBB904}"/>
              </a:ext>
            </a:extLst>
          </p:cNvPr>
          <p:cNvGrpSpPr/>
          <p:nvPr/>
        </p:nvGrpSpPr>
        <p:grpSpPr>
          <a:xfrm>
            <a:off x="2722194" y="930491"/>
            <a:ext cx="891233" cy="174800"/>
            <a:chOff x="1244327" y="2887118"/>
            <a:chExt cx="891233" cy="174800"/>
          </a:xfrm>
        </p:grpSpPr>
        <p:sp>
          <p:nvSpPr>
            <p:cNvPr id="32" name="Text Box">
              <a:extLst>
                <a:ext uri="{FF2B5EF4-FFF2-40B4-BE49-F238E27FC236}">
                  <a16:creationId xmlns:a16="http://schemas.microsoft.com/office/drawing/2014/main" id="{4B3DB757-A5B4-7EEC-DBDC-0B1723409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2025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년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3" name="Chevron Left">
              <a:extLst>
                <a:ext uri="{FF2B5EF4-FFF2-40B4-BE49-F238E27FC236}">
                  <a16:creationId xmlns:a16="http://schemas.microsoft.com/office/drawing/2014/main" id="{DA220868-B08D-F3DE-BF9C-7AB00608FB8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139147-9737-34D8-14C5-A74A539B4E3A}"/>
              </a:ext>
            </a:extLst>
          </p:cNvPr>
          <p:cNvGrpSpPr/>
          <p:nvPr/>
        </p:nvGrpSpPr>
        <p:grpSpPr>
          <a:xfrm>
            <a:off x="3651750" y="930491"/>
            <a:ext cx="891233" cy="174800"/>
            <a:chOff x="1244327" y="2887118"/>
            <a:chExt cx="891233" cy="174800"/>
          </a:xfrm>
        </p:grpSpPr>
        <p:sp>
          <p:nvSpPr>
            <p:cNvPr id="35" name="Text Box">
              <a:extLst>
                <a:ext uri="{FF2B5EF4-FFF2-40B4-BE49-F238E27FC236}">
                  <a16:creationId xmlns:a16="http://schemas.microsoft.com/office/drawing/2014/main" id="{E46375A6-5345-27D0-AB82-A953B4A5E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01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월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Chevron Left">
              <a:extLst>
                <a:ext uri="{FF2B5EF4-FFF2-40B4-BE49-F238E27FC236}">
                  <a16:creationId xmlns:a16="http://schemas.microsoft.com/office/drawing/2014/main" id="{593E187F-8A0E-DB0F-E48E-8C8C233F346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30E1155-07A4-6594-175E-24F85C578174}"/>
              </a:ext>
            </a:extLst>
          </p:cNvPr>
          <p:cNvGrpSpPr/>
          <p:nvPr/>
        </p:nvGrpSpPr>
        <p:grpSpPr>
          <a:xfrm>
            <a:off x="6667754" y="930491"/>
            <a:ext cx="891233" cy="174800"/>
            <a:chOff x="1244327" y="2887118"/>
            <a:chExt cx="891233" cy="174800"/>
          </a:xfrm>
        </p:grpSpPr>
        <p:sp>
          <p:nvSpPr>
            <p:cNvPr id="38" name="Text Box">
              <a:extLst>
                <a:ext uri="{FF2B5EF4-FFF2-40B4-BE49-F238E27FC236}">
                  <a16:creationId xmlns:a16="http://schemas.microsoft.com/office/drawing/2014/main" id="{C5410522-E436-1106-A753-327B68373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전체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Chevron Left">
              <a:extLst>
                <a:ext uri="{FF2B5EF4-FFF2-40B4-BE49-F238E27FC236}">
                  <a16:creationId xmlns:a16="http://schemas.microsoft.com/office/drawing/2014/main" id="{C4AE23BD-CB03-4776-88FF-17A5E64A2D1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0C91210-3145-EFF6-11B5-98C37D6403D9}"/>
              </a:ext>
            </a:extLst>
          </p:cNvPr>
          <p:cNvSpPr/>
          <p:nvPr/>
        </p:nvSpPr>
        <p:spPr>
          <a:xfrm>
            <a:off x="8722928" y="1258475"/>
            <a:ext cx="540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엑셀다운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783E90F1-C86B-D501-70ED-FF80FB9EE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98654"/>
              </p:ext>
            </p:extLst>
          </p:nvPr>
        </p:nvGraphicFramePr>
        <p:xfrm>
          <a:off x="1447435" y="1492399"/>
          <a:ext cx="781608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730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882932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826433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  <a:gridCol w="826433">
                  <a:extLst>
                    <a:ext uri="{9D8B030D-6E8A-4147-A177-3AD203B41FA5}">
                      <a16:colId xmlns:a16="http://schemas.microsoft.com/office/drawing/2014/main" val="2817795794"/>
                    </a:ext>
                  </a:extLst>
                </a:gridCol>
                <a:gridCol w="826433">
                  <a:extLst>
                    <a:ext uri="{9D8B030D-6E8A-4147-A177-3AD203B41FA5}">
                      <a16:colId xmlns:a16="http://schemas.microsoft.com/office/drawing/2014/main" val="1900590060"/>
                    </a:ext>
                  </a:extLst>
                </a:gridCol>
                <a:gridCol w="999623">
                  <a:extLst>
                    <a:ext uri="{9D8B030D-6E8A-4147-A177-3AD203B41FA5}">
                      <a16:colId xmlns:a16="http://schemas.microsoft.com/office/drawing/2014/main" val="3716939892"/>
                    </a:ext>
                  </a:extLst>
                </a:gridCol>
                <a:gridCol w="999623">
                  <a:extLst>
                    <a:ext uri="{9D8B030D-6E8A-4147-A177-3AD203B41FA5}">
                      <a16:colId xmlns:a16="http://schemas.microsoft.com/office/drawing/2014/main" val="1335417130"/>
                    </a:ext>
                  </a:extLst>
                </a:gridCol>
                <a:gridCol w="1125544">
                  <a:extLst>
                    <a:ext uri="{9D8B030D-6E8A-4147-A177-3AD203B41FA5}">
                      <a16:colId xmlns:a16="http://schemas.microsoft.com/office/drawing/2014/main" val="4130616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옵션금액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 합계 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R20250201</a:t>
                      </a:r>
                      <a:endParaRPr kumimoji="1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600,000 KRW</a:t>
                      </a: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1BD85A15-638B-FA2D-9322-122EB5F285D4}"/>
              </a:ext>
            </a:extLst>
          </p:cNvPr>
          <p:cNvGrpSpPr/>
          <p:nvPr/>
        </p:nvGrpSpPr>
        <p:grpSpPr>
          <a:xfrm>
            <a:off x="1441381" y="1246180"/>
            <a:ext cx="1842121" cy="200055"/>
            <a:chOff x="1446413" y="1985887"/>
            <a:chExt cx="1842121" cy="2000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77F79D0-3DD9-DCBE-1C36-63F11A18CCAB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B6B2BD69-8632-17D5-9205-518017378419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44" name="Text Box">
                <a:extLst>
                  <a:ext uri="{FF2B5EF4-FFF2-40B4-BE49-F238E27FC236}">
                    <a16:creationId xmlns:a16="http://schemas.microsoft.com/office/drawing/2014/main" id="{AE3E03D7-B096-41E9-7FA6-4AAD0FE65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5" name="Chevron Left">
                <a:extLst>
                  <a:ext uri="{FF2B5EF4-FFF2-40B4-BE49-F238E27FC236}">
                    <a16:creationId xmlns:a16="http://schemas.microsoft.com/office/drawing/2014/main" id="{B5119B8D-13F3-3D02-17F8-80EC94EDBB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6" name="Cutout">
            <a:extLst>
              <a:ext uri="{FF2B5EF4-FFF2-40B4-BE49-F238E27FC236}">
                <a16:creationId xmlns:a16="http://schemas.microsoft.com/office/drawing/2014/main" id="{E583B090-A3C8-307B-44DB-7E3455F3CF3B}"/>
              </a:ext>
            </a:extLst>
          </p:cNvPr>
          <p:cNvGrpSpPr/>
          <p:nvPr/>
        </p:nvGrpSpPr>
        <p:grpSpPr>
          <a:xfrm rot="16200000">
            <a:off x="5307386" y="-490239"/>
            <a:ext cx="133363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47" name="Fill">
              <a:extLst>
                <a:ext uri="{FF2B5EF4-FFF2-40B4-BE49-F238E27FC236}">
                  <a16:creationId xmlns:a16="http://schemas.microsoft.com/office/drawing/2014/main" id="{D9DEBF60-0BA4-0C33-7A85-C8DFAC5F1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Border">
              <a:extLst>
                <a:ext uri="{FF2B5EF4-FFF2-40B4-BE49-F238E27FC236}">
                  <a16:creationId xmlns:a16="http://schemas.microsoft.com/office/drawing/2014/main" id="{866ADDCC-C9BD-2EDB-DC4F-A420779D4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52586B7-34F8-65B1-6E8F-B2330A393CD9}"/>
              </a:ext>
            </a:extLst>
          </p:cNvPr>
          <p:cNvSpPr txBox="1"/>
          <p:nvPr/>
        </p:nvSpPr>
        <p:spPr>
          <a:xfrm>
            <a:off x="4521269" y="3356992"/>
            <a:ext cx="18886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매출이 없는 경우 및 조회 결과가 없는 경우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0" name="Pagination">
            <a:extLst>
              <a:ext uri="{FF2B5EF4-FFF2-40B4-BE49-F238E27FC236}">
                <a16:creationId xmlns:a16="http://schemas.microsoft.com/office/drawing/2014/main" id="{BBACAF47-8F9B-47E1-35CF-F6ABBE190793}"/>
              </a:ext>
            </a:extLst>
          </p:cNvPr>
          <p:cNvSpPr txBox="1"/>
          <p:nvPr/>
        </p:nvSpPr>
        <p:spPr>
          <a:xfrm>
            <a:off x="4737446" y="422901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2386446A-9749-E7E3-FF3F-A3B72636C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0374"/>
              </p:ext>
            </p:extLst>
          </p:nvPr>
        </p:nvGraphicFramePr>
        <p:xfrm>
          <a:off x="1447437" y="3645024"/>
          <a:ext cx="781608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298">
                  <a:extLst>
                    <a:ext uri="{9D8B030D-6E8A-4147-A177-3AD203B41FA5}">
                      <a16:colId xmlns:a16="http://schemas.microsoft.com/office/drawing/2014/main" val="2904624617"/>
                    </a:ext>
                  </a:extLst>
                </a:gridCol>
                <a:gridCol w="567464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  <a:gridCol w="567464">
                  <a:extLst>
                    <a:ext uri="{9D8B030D-6E8A-4147-A177-3AD203B41FA5}">
                      <a16:colId xmlns:a16="http://schemas.microsoft.com/office/drawing/2014/main" val="2817795794"/>
                    </a:ext>
                  </a:extLst>
                </a:gridCol>
                <a:gridCol w="667903">
                  <a:extLst>
                    <a:ext uri="{9D8B030D-6E8A-4147-A177-3AD203B41FA5}">
                      <a16:colId xmlns:a16="http://schemas.microsoft.com/office/drawing/2014/main" val="1900590060"/>
                    </a:ext>
                  </a:extLst>
                </a:gridCol>
                <a:gridCol w="1147218">
                  <a:extLst>
                    <a:ext uri="{9D8B030D-6E8A-4147-A177-3AD203B41FA5}">
                      <a16:colId xmlns:a16="http://schemas.microsoft.com/office/drawing/2014/main" val="3716939892"/>
                    </a:ext>
                  </a:extLst>
                </a:gridCol>
                <a:gridCol w="1147218">
                  <a:extLst>
                    <a:ext uri="{9D8B030D-6E8A-4147-A177-3AD203B41FA5}">
                      <a16:colId xmlns:a16="http://schemas.microsoft.com/office/drawing/2014/main" val="1335417130"/>
                    </a:ext>
                  </a:extLst>
                </a:gridCol>
                <a:gridCol w="1291732">
                  <a:extLst>
                    <a:ext uri="{9D8B030D-6E8A-4147-A177-3AD203B41FA5}">
                      <a16:colId xmlns:a16="http://schemas.microsoft.com/office/drawing/2014/main" val="4130616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옵션금액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총 합계 금액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kern="1200" spc="-7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kern="1200" spc="-7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spc="-7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금월 매출 내역이 없습니다</a:t>
                      </a:r>
                      <a:r>
                        <a:rPr lang="en-US" altLang="ko-KR" sz="700" b="0" i="0" kern="1200" spc="-7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  <a:endParaRPr lang="ko-KR" altLang="en-US" sz="700" b="0" i="0" kern="1200" spc="-7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E6886C5D-5196-BAE2-18CA-1579AD38759A}"/>
              </a:ext>
            </a:extLst>
          </p:cNvPr>
          <p:cNvSpPr txBox="1"/>
          <p:nvPr/>
        </p:nvSpPr>
        <p:spPr>
          <a:xfrm>
            <a:off x="7562841" y="925951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Teardrop 1">
            <a:extLst>
              <a:ext uri="{FF2B5EF4-FFF2-40B4-BE49-F238E27FC236}">
                <a16:creationId xmlns:a16="http://schemas.microsoft.com/office/drawing/2014/main" id="{919698F2-CBE0-6491-D793-9CD1935C8A03}"/>
              </a:ext>
            </a:extLst>
          </p:cNvPr>
          <p:cNvSpPr/>
          <p:nvPr/>
        </p:nvSpPr>
        <p:spPr>
          <a:xfrm rot="16200000" flipH="1" flipV="1">
            <a:off x="3548136" y="79892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4354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79924</TotalTime>
  <Words>563</Words>
  <Application>Microsoft Macintosh PowerPoint</Application>
  <PresentationFormat>와이드스크린</PresentationFormat>
  <Paragraphs>254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굴림</vt:lpstr>
      <vt:lpstr>NanumGothic</vt:lpstr>
      <vt:lpstr>NanumGothic</vt:lpstr>
      <vt:lpstr>나눔고딕OTF</vt:lpstr>
      <vt:lpstr>맑은 고딕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월별 매출 관리(리스트)</vt:lpstr>
      <vt:lpstr>월별 매출 관리(리스트)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11875</cp:revision>
  <cp:lastPrinted>2021-10-07T06:19:02Z</cp:lastPrinted>
  <dcterms:created xsi:type="dcterms:W3CDTF">2008-07-01T10:06:20Z</dcterms:created>
  <dcterms:modified xsi:type="dcterms:W3CDTF">2025-01-24T05:28:03Z</dcterms:modified>
</cp:coreProperties>
</file>